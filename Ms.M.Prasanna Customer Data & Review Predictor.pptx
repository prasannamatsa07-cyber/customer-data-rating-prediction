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m0P/ufQa1gmEDU3UpKcWg0gfU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609C74-5F09-435A-A14F-D135B961CA95}">
  <a:tblStyle styleId="{D7609C74-5F09-435A-A14F-D135B961CA9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3f380e15e7b123e4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3f380e15e7b123e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3f380e15e7b123e4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3f380e15e7b123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d19fef9d87aa9eb_3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d19fef9d87aa9eb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prasannamatsa07-cyber/CUSTOMER-DATA-RATING-PREDICTION.gi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690657" y="2600315"/>
          <a:ext cx="3000000" cy="3000000"/>
        </p:xfrm>
        <a:graphic>
          <a:graphicData uri="http://schemas.openxmlformats.org/drawingml/2006/table">
            <a:tbl>
              <a:tblPr>
                <a:noFill/>
                <a:tableStyleId>{D7609C74-5F09-435A-A14F-D135B961CA95}</a:tableStyleId>
              </a:tblPr>
              <a:tblGrid>
                <a:gridCol w="2382300"/>
                <a:gridCol w="2818950"/>
                <a:gridCol w="3937675"/>
                <a:gridCol w="2558600"/>
              </a:tblGrid>
              <a:tr h="1740525">
                <a:tc>
                  <a:txBody>
                    <a:bodyPr/>
                    <a:lstStyle/>
                    <a:p>
                      <a:pPr indent="0" lvl="0" marL="0" marR="0" rtl="0" algn="ctr">
                        <a:lnSpc>
                          <a:spcPct val="100000"/>
                        </a:lnSpc>
                        <a:spcBef>
                          <a:spcPts val="0"/>
                        </a:spcBef>
                        <a:spcAft>
                          <a:spcPts val="0"/>
                        </a:spcAft>
                        <a:buClr>
                          <a:srgbClr val="000000"/>
                        </a:buClr>
                        <a:buSzPts val="1800"/>
                        <a:buFont typeface="Arial"/>
                        <a:buNone/>
                      </a:pPr>
                      <a:r>
                        <a:rPr b="1" lang="en-US" sz="2000"/>
                        <a:t>Faculty Name</a:t>
                      </a:r>
                      <a:endParaRPr b="1"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2000" u="none" cap="none" strike="noStrike"/>
                        <a:t>Recent Passport Photo</a:t>
                      </a:r>
                      <a:endParaRPr b="1" sz="20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2000" u="none" cap="none" strike="noStrike">
                          <a:solidFill>
                            <a:srgbClr val="000000"/>
                          </a:solidFill>
                        </a:rPr>
                        <a:t>Email ID </a:t>
                      </a:r>
                      <a:endParaRPr b="1" i="0" sz="2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1" i="0" lang="en-US" sz="2000" u="none" cap="none" strike="noStrike">
                          <a:solidFill>
                            <a:srgbClr val="000000"/>
                          </a:solidFill>
                        </a:rPr>
                        <a:t>Mobile number</a:t>
                      </a:r>
                      <a:endParaRPr b="1" i="0" sz="2000" u="none" cap="none" strike="noStrike">
                        <a:solidFill>
                          <a:srgbClr val="000000"/>
                        </a:solidFill>
                      </a:endParaRPr>
                    </a:p>
                    <a:p>
                      <a:pPr indent="0" lvl="0" marL="0" marR="0" rtl="0" algn="ctr">
                        <a:lnSpc>
                          <a:spcPct val="100000"/>
                        </a:lnSpc>
                        <a:spcBef>
                          <a:spcPts val="0"/>
                        </a:spcBef>
                        <a:spcAft>
                          <a:spcPts val="0"/>
                        </a:spcAft>
                        <a:buClr>
                          <a:schemeClr val="lt1"/>
                        </a:buClr>
                        <a:buSzPts val="1800"/>
                        <a:buFont typeface="Calibri"/>
                        <a:buNone/>
                      </a:pPr>
                      <a:r>
                        <a:rPr b="1" i="0" lang="en-US" sz="2000" u="none" cap="none" strike="noStrike">
                          <a:solidFill>
                            <a:srgbClr val="000000"/>
                          </a:solidFill>
                        </a:rPr>
                        <a:t>[WhatsApp] </a:t>
                      </a:r>
                      <a:endParaRPr b="1" i="0" sz="2000" u="none" cap="none" strike="noStrike">
                        <a:solidFill>
                          <a:srgbClr val="000000"/>
                        </a:solidFil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2135175">
                <a:tc>
                  <a:txBody>
                    <a:bodyPr/>
                    <a:lstStyle/>
                    <a:p>
                      <a:pPr indent="0" lvl="0" marL="0" marR="0" rtl="0" algn="l">
                        <a:lnSpc>
                          <a:spcPct val="100000"/>
                        </a:lnSpc>
                        <a:spcBef>
                          <a:spcPts val="0"/>
                        </a:spcBef>
                        <a:spcAft>
                          <a:spcPts val="0"/>
                        </a:spcAft>
                        <a:buClr>
                          <a:srgbClr val="000000"/>
                        </a:buClr>
                        <a:buSzPts val="1400"/>
                        <a:buFont typeface="Arial"/>
                        <a:buNone/>
                      </a:pPr>
                      <a:r>
                        <a:rPr b="1" lang="en-US" sz="2200"/>
                        <a:t>Ms.M.Prasanna</a:t>
                      </a:r>
                      <a:endParaRPr b="1" sz="22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2000"/>
                        <a:t>prasannamatsa07@gmail.com</a:t>
                      </a:r>
                      <a:endParaRPr b="1"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2000"/>
                        <a:t>8008019899</a:t>
                      </a:r>
                      <a:endParaRPr b="1"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251989" y="1576149"/>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Domain of  Project – </a:t>
            </a:r>
            <a:r>
              <a:rPr b="1" lang="en-US" sz="2800" u="sng">
                <a:highlight>
                  <a:srgbClr val="FFFF00"/>
                </a:highlight>
              </a:rPr>
              <a:t>MARKETING</a:t>
            </a:r>
            <a:endParaRPr b="1" i="0" sz="2800" u="sng"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252000" y="551979"/>
            <a:ext cx="9700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Project Tile – </a:t>
            </a:r>
            <a:r>
              <a:rPr b="1" lang="en-US" sz="2800" u="sng">
                <a:highlight>
                  <a:srgbClr val="FFFF00"/>
                </a:highlight>
              </a:rPr>
              <a:t>Customer Data &amp; Review Prediction</a:t>
            </a:r>
            <a:endParaRPr b="1" i="0" sz="2800" u="sng" cap="none" strike="noStrik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11005" y="5210667"/>
            <a:ext cx="645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90" name="Google Shape;90;p2" title="WhatsApp Image 2026-08-19 at 7.46.09 PM.jpeg"/>
          <p:cNvPicPr preferRelativeResize="0"/>
          <p:nvPr/>
        </p:nvPicPr>
        <p:blipFill>
          <a:blip r:embed="rId3">
            <a:alphaModFix/>
          </a:blip>
          <a:stretch>
            <a:fillRect/>
          </a:stretch>
        </p:blipFill>
        <p:spPr>
          <a:xfrm>
            <a:off x="3892777" y="4339250"/>
            <a:ext cx="1371380" cy="2050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4"/>
          <p:cNvSpPr txBox="1"/>
          <p:nvPr/>
        </p:nvSpPr>
        <p:spPr>
          <a:xfrm>
            <a:off x="576075" y="1234821"/>
            <a:ext cx="10607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34"/>
          <p:cNvSpPr txBox="1"/>
          <p:nvPr/>
        </p:nvSpPr>
        <p:spPr>
          <a:xfrm>
            <a:off x="0" y="711614"/>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Problem Statement </a:t>
            </a:r>
            <a:endParaRPr b="1" i="0" sz="2800" u="sng" cap="none" strike="noStrike">
              <a:solidFill>
                <a:srgbClr val="000000"/>
              </a:solidFill>
              <a:latin typeface="Arial"/>
              <a:ea typeface="Arial"/>
              <a:cs typeface="Arial"/>
              <a:sym typeface="Arial"/>
            </a:endParaRPr>
          </a:p>
        </p:txBody>
      </p:sp>
      <p:sp>
        <p:nvSpPr>
          <p:cNvPr id="97" name="Google Shape;97;p34"/>
          <p:cNvSpPr txBox="1"/>
          <p:nvPr/>
        </p:nvSpPr>
        <p:spPr>
          <a:xfrm>
            <a:off x="0" y="1365775"/>
            <a:ext cx="11428800" cy="48762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500"/>
              <a:t>P</a:t>
            </a:r>
            <a:r>
              <a:rPr b="1" lang="en-US" sz="2500"/>
              <a:t>redict the customer rating (1–5 ⭐) for an e-commerce order based on customer demographics, order details, browsing behaviour, and delivery information.</a:t>
            </a:r>
            <a:endParaRPr b="1" sz="2500"/>
          </a:p>
          <a:p>
            <a:pPr indent="0" lvl="0" marL="0" rtl="0" algn="just">
              <a:lnSpc>
                <a:spcPct val="150000"/>
              </a:lnSpc>
              <a:spcBef>
                <a:spcPts val="0"/>
              </a:spcBef>
              <a:spcAft>
                <a:spcPts val="0"/>
              </a:spcAft>
              <a:buNone/>
            </a:pPr>
            <a:r>
              <a:t/>
            </a:r>
            <a:endParaRPr b="1" sz="2500"/>
          </a:p>
          <a:p>
            <a:pPr indent="0" lvl="0" marL="0" rtl="0" algn="just">
              <a:lnSpc>
                <a:spcPct val="150000"/>
              </a:lnSpc>
              <a:spcBef>
                <a:spcPts val="0"/>
              </a:spcBef>
              <a:spcAft>
                <a:spcPts val="0"/>
              </a:spcAft>
              <a:buNone/>
            </a:pPr>
            <a:r>
              <a:rPr b="1" lang="en-US" sz="2500"/>
              <a:t>This is a multi-class classification problem solved using scikit-learn pipelines trained on a real Turkish e-commerce dataset of customer transactions.</a:t>
            </a:r>
            <a:endParaRPr b="1" sz="2500"/>
          </a:p>
          <a:p>
            <a:pPr indent="0" lvl="0" marL="0" rtl="0" algn="just">
              <a:lnSpc>
                <a:spcPct val="135000"/>
              </a:lnSpc>
              <a:spcBef>
                <a:spcPts val="0"/>
              </a:spcBef>
              <a:spcAft>
                <a:spcPts val="0"/>
              </a:spcAft>
              <a:buNone/>
            </a:pPr>
            <a:r>
              <a:t/>
            </a:r>
            <a:endParaRPr b="1" sz="1800">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1" sz="1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5"/>
          <p:cNvSpPr txBox="1"/>
          <p:nvPr/>
        </p:nvSpPr>
        <p:spPr>
          <a:xfrm>
            <a:off x="516450" y="995933"/>
            <a:ext cx="10607100" cy="861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rtl="0" algn="l">
              <a:lnSpc>
                <a:spcPct val="135000"/>
              </a:lnSpc>
              <a:spcBef>
                <a:spcPts val="0"/>
              </a:spcBef>
              <a:spcAft>
                <a:spcPts val="0"/>
              </a:spcAft>
              <a:buClr>
                <a:schemeClr val="dk1"/>
              </a:buClr>
              <a:buSzPts val="1100"/>
              <a:buFont typeface="Arial"/>
              <a:buNone/>
            </a:pPr>
            <a:r>
              <a:rPr b="1" lang="en-US" sz="2000">
                <a:solidFill>
                  <a:schemeClr val="dk1"/>
                </a:solidFill>
              </a:rPr>
              <a:t>P</a:t>
            </a:r>
            <a:r>
              <a:rPr b="1" lang="en-US" sz="2000">
                <a:solidFill>
                  <a:schemeClr val="dk1"/>
                </a:solidFill>
              </a:rPr>
              <a:t>roposed Solution: E-Commerce Customer Rating Predictor</a:t>
            </a:r>
            <a:endParaRPr b="1" sz="2000">
              <a:solidFill>
                <a:schemeClr val="dk1"/>
              </a:solidFill>
            </a:endParaRPr>
          </a:p>
          <a:p>
            <a:pPr indent="0" lvl="0" marL="0" rtl="0" algn="l">
              <a:lnSpc>
                <a:spcPct val="135000"/>
              </a:lnSpc>
              <a:spcBef>
                <a:spcPts val="0"/>
              </a:spcBef>
              <a:spcAft>
                <a:spcPts val="0"/>
              </a:spcAft>
              <a:buClr>
                <a:schemeClr val="dk1"/>
              </a:buClr>
              <a:buSzPts val="1100"/>
              <a:buFont typeface="Arial"/>
              <a:buNone/>
            </a:pPr>
            <a:r>
              <a:rPr b="1" lang="en-US" sz="2000">
                <a:solidFill>
                  <a:schemeClr val="dk1"/>
                </a:solidFill>
              </a:rPr>
              <a:t>Approach: Build an end-to-end supervised ML classification pipeline that learns patterns from historical order and session data to predict customer satisfaction ratings (1–5).</a:t>
            </a:r>
            <a:endParaRPr b="1" sz="2000">
              <a:solidFill>
                <a:schemeClr val="dk1"/>
              </a:solidFill>
            </a:endParaRPr>
          </a:p>
          <a:p>
            <a:pPr indent="0" lvl="0" marL="0" rtl="0" algn="l">
              <a:lnSpc>
                <a:spcPct val="135000"/>
              </a:lnSpc>
              <a:spcBef>
                <a:spcPts val="0"/>
              </a:spcBef>
              <a:spcAft>
                <a:spcPts val="0"/>
              </a:spcAft>
              <a:buClr>
                <a:schemeClr val="dk1"/>
              </a:buClr>
              <a:buSzPts val="1100"/>
              <a:buFont typeface="Arial"/>
              <a:buNone/>
            </a:pPr>
            <a:r>
              <a:rPr b="1" lang="en-US" sz="2000">
                <a:solidFill>
                  <a:schemeClr val="dk1"/>
                </a:solidFill>
              </a:rPr>
              <a:t>Key Steps:</a:t>
            </a:r>
            <a:endParaRPr b="1" sz="2000">
              <a:solidFill>
                <a:schemeClr val="dk1"/>
              </a:solidFill>
            </a:endParaRPr>
          </a:p>
          <a:p>
            <a:pPr indent="-355600" lvl="0" marL="457200" rtl="0" algn="l">
              <a:lnSpc>
                <a:spcPct val="135000"/>
              </a:lnSpc>
              <a:spcBef>
                <a:spcPts val="1000"/>
              </a:spcBef>
              <a:spcAft>
                <a:spcPts val="0"/>
              </a:spcAft>
              <a:buClr>
                <a:schemeClr val="dk1"/>
              </a:buClr>
              <a:buSzPts val="2000"/>
              <a:buChar char="●"/>
            </a:pPr>
            <a:r>
              <a:rPr b="1" lang="en-US" sz="2000">
                <a:solidFill>
                  <a:schemeClr val="dk1"/>
                </a:solidFill>
              </a:rPr>
              <a:t>Data: Real e-commerce dataset (14 features → Age, City, Product Category, Payment Method, Delivery Time, etc.)</a:t>
            </a:r>
            <a:endParaRPr b="1" sz="2000">
              <a:solidFill>
                <a:schemeClr val="dk1"/>
              </a:solidFill>
            </a:endParaRPr>
          </a:p>
          <a:p>
            <a:pPr indent="-355600" lvl="0" marL="457200" rtl="0" algn="l">
              <a:lnSpc>
                <a:spcPct val="135000"/>
              </a:lnSpc>
              <a:spcBef>
                <a:spcPts val="0"/>
              </a:spcBef>
              <a:spcAft>
                <a:spcPts val="0"/>
              </a:spcAft>
              <a:buClr>
                <a:schemeClr val="dk1"/>
              </a:buClr>
              <a:buSzPts val="2000"/>
              <a:buChar char="●"/>
            </a:pPr>
            <a:r>
              <a:rPr b="1" lang="en-US" sz="2000">
                <a:solidFill>
                  <a:schemeClr val="dk1"/>
                </a:solidFill>
              </a:rPr>
              <a:t>Preprocessing: Median imputation + StandardScaler (numeric) · Ordinal Encoder (categorical)</a:t>
            </a:r>
            <a:endParaRPr b="1" sz="2000">
              <a:solidFill>
                <a:schemeClr val="dk1"/>
              </a:solidFill>
            </a:endParaRPr>
          </a:p>
          <a:p>
            <a:pPr indent="-355600" lvl="0" marL="457200" rtl="0" algn="l">
              <a:lnSpc>
                <a:spcPct val="135000"/>
              </a:lnSpc>
              <a:spcBef>
                <a:spcPts val="0"/>
              </a:spcBef>
              <a:spcAft>
                <a:spcPts val="0"/>
              </a:spcAft>
              <a:buClr>
                <a:schemeClr val="dk1"/>
              </a:buClr>
              <a:buSzPts val="2000"/>
              <a:buChar char="●"/>
            </a:pPr>
            <a:r>
              <a:rPr b="1" lang="en-US" sz="2000">
                <a:solidFill>
                  <a:schemeClr val="dk1"/>
                </a:solidFill>
              </a:rPr>
              <a:t>Models Compared: Random Forest · Gradient Boosting · Extra Trees · Logistic Regression · KNN</a:t>
            </a:r>
            <a:endParaRPr b="1" sz="2000">
              <a:solidFill>
                <a:schemeClr val="dk1"/>
              </a:solidFill>
            </a:endParaRPr>
          </a:p>
          <a:p>
            <a:pPr indent="-355600" lvl="0" marL="457200" rtl="0" algn="l">
              <a:lnSpc>
                <a:spcPct val="135000"/>
              </a:lnSpc>
              <a:spcBef>
                <a:spcPts val="0"/>
              </a:spcBef>
              <a:spcAft>
                <a:spcPts val="0"/>
              </a:spcAft>
              <a:buClr>
                <a:schemeClr val="dk1"/>
              </a:buClr>
              <a:buSzPts val="2000"/>
              <a:buChar char="●"/>
            </a:pPr>
            <a:r>
              <a:rPr b="1" lang="en-US" sz="2000">
                <a:solidFill>
                  <a:schemeClr val="dk1"/>
                </a:solidFill>
              </a:rPr>
              <a:t>Best Model Selected: Automatically chosen by highest test-set accuracy via 5-fold cross-validation</a:t>
            </a:r>
            <a:endParaRPr b="1" sz="2000">
              <a:solidFill>
                <a:schemeClr val="dk1"/>
              </a:solidFill>
            </a:endParaRPr>
          </a:p>
          <a:p>
            <a:pPr indent="-355600" lvl="0" marL="457200" rtl="0" algn="l">
              <a:lnSpc>
                <a:spcPct val="135000"/>
              </a:lnSpc>
              <a:spcBef>
                <a:spcPts val="0"/>
              </a:spcBef>
              <a:spcAft>
                <a:spcPts val="0"/>
              </a:spcAft>
              <a:buClr>
                <a:schemeClr val="dk1"/>
              </a:buClr>
              <a:buSzPts val="2000"/>
              <a:buChar char="●"/>
            </a:pPr>
            <a:r>
              <a:rPr b="1" lang="en-US" sz="2000">
                <a:solidFill>
                  <a:schemeClr val="dk1"/>
                </a:solidFill>
              </a:rPr>
              <a:t>Deployment: Streamlit web app where users input order details and receive an instant predicted rating with class probabilities</a:t>
            </a:r>
            <a:endParaRPr b="1" sz="2000">
              <a:solidFill>
                <a:schemeClr val="dk1"/>
              </a:solidFill>
            </a:endParaRPr>
          </a:p>
          <a:p>
            <a:pPr indent="0" lvl="0" marL="0" rtl="0" algn="l">
              <a:lnSpc>
                <a:spcPct val="135000"/>
              </a:lnSpc>
              <a:spcBef>
                <a:spcPts val="1000"/>
              </a:spcBef>
              <a:spcAft>
                <a:spcPts val="0"/>
              </a:spcAft>
              <a:buClr>
                <a:schemeClr val="dk1"/>
              </a:buClr>
              <a:buSzPts val="1100"/>
              <a:buFont typeface="Arial"/>
              <a:buNone/>
            </a:pPr>
            <a:r>
              <a:rPr b="1" lang="en-US" sz="2000">
                <a:solidFill>
                  <a:schemeClr val="dk1"/>
                </a:solidFill>
              </a:rPr>
              <a:t>Expected Outcome: A deployable, interactive web application that helps e-commerce businesses proactively identify low-satisfaction orders and improve customer experience before reviews are submitted.</a:t>
            </a:r>
            <a:endParaRPr b="1" sz="2000">
              <a:solidFill>
                <a:schemeClr val="dk1"/>
              </a:solidFill>
            </a:endParaRPr>
          </a:p>
          <a:p>
            <a:pPr indent="0" lvl="0" marL="0" rtl="0" algn="l">
              <a:spcBef>
                <a:spcPts val="0"/>
              </a:spcBef>
              <a:spcAft>
                <a:spcPts val="0"/>
              </a:spcAft>
              <a:buClr>
                <a:srgbClr val="000000"/>
              </a:buClr>
              <a:buFont typeface="Arial"/>
              <a:buNone/>
            </a:pPr>
            <a:r>
              <a:t/>
            </a:r>
            <a:endParaRPr b="1" sz="2100">
              <a:solidFill>
                <a:schemeClr val="dk1"/>
              </a:solidFill>
              <a:latin typeface="Times New Roman"/>
              <a:ea typeface="Times New Roman"/>
              <a:cs typeface="Times New Roman"/>
              <a:sym typeface="Times New Roman"/>
            </a:endParaRPr>
          </a:p>
          <a:p>
            <a:pPr indent="0" lvl="0" marL="0" rtl="0" algn="l">
              <a:lnSpc>
                <a:spcPct val="135000"/>
              </a:lnSpc>
              <a:spcBef>
                <a:spcPts val="0"/>
              </a:spcBef>
              <a:spcAft>
                <a:spcPts val="0"/>
              </a:spcAft>
              <a:buClr>
                <a:schemeClr val="dk1"/>
              </a:buClr>
              <a:buSzPts val="1100"/>
              <a:buFont typeface="Arial"/>
              <a:buNone/>
            </a:pPr>
            <a:r>
              <a:rPr b="1" lang="en-US" sz="1000">
                <a:solidFill>
                  <a:schemeClr val="dk1"/>
                </a:solidFill>
              </a:rPr>
              <a:t>P</a:t>
            </a:r>
            <a:endParaRPr b="1" sz="2100">
              <a:solidFill>
                <a:schemeClr val="dk1"/>
              </a:solidFill>
              <a:latin typeface="Times New Roman"/>
              <a:ea typeface="Times New Roman"/>
              <a:cs typeface="Times New Roman"/>
              <a:sym typeface="Times New Roman"/>
            </a:endParaRPr>
          </a:p>
        </p:txBody>
      </p:sp>
      <p:sp>
        <p:nvSpPr>
          <p:cNvPr id="103" name="Google Shape;103;p35"/>
          <p:cNvSpPr txBox="1"/>
          <p:nvPr/>
        </p:nvSpPr>
        <p:spPr>
          <a:xfrm>
            <a:off x="874247" y="92388"/>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Proposed Solution </a:t>
            </a:r>
            <a:endParaRPr b="1" i="0" sz="2800" u="sng" cap="none" strike="noStrike">
              <a:solidFill>
                <a:srgbClr val="000000"/>
              </a:solidFill>
              <a:latin typeface="Arial"/>
              <a:ea typeface="Arial"/>
              <a:cs typeface="Arial"/>
              <a:sym typeface="Arial"/>
            </a:endParaRPr>
          </a:p>
        </p:txBody>
      </p:sp>
      <p:sp>
        <p:nvSpPr>
          <p:cNvPr id="104" name="Google Shape;104;p35"/>
          <p:cNvSpPr txBox="1"/>
          <p:nvPr/>
        </p:nvSpPr>
        <p:spPr>
          <a:xfrm>
            <a:off x="4603800" y="0"/>
            <a:ext cx="771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6"/>
          <p:cNvSpPr txBox="1"/>
          <p:nvPr/>
        </p:nvSpPr>
        <p:spPr>
          <a:xfrm>
            <a:off x="777240" y="454807"/>
            <a:ext cx="7123200" cy="56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700" u="sng" cap="none" strike="noStrike">
                <a:solidFill>
                  <a:srgbClr val="000000"/>
                </a:solidFill>
                <a:latin typeface="Arial"/>
                <a:ea typeface="Arial"/>
                <a:cs typeface="Arial"/>
                <a:sym typeface="Arial"/>
              </a:rPr>
              <a:t>T</a:t>
            </a:r>
            <a:r>
              <a:rPr b="1" i="0" lang="en-US" sz="3100" u="sng" cap="none" strike="noStrike">
                <a:solidFill>
                  <a:srgbClr val="000000"/>
                </a:solidFill>
                <a:latin typeface="Arial"/>
                <a:ea typeface="Arial"/>
                <a:cs typeface="Arial"/>
                <a:sym typeface="Arial"/>
              </a:rPr>
              <a:t>echnology Used</a:t>
            </a:r>
            <a:endParaRPr b="1" i="0" sz="3100" u="sng" cap="none" strike="noStrike">
              <a:solidFill>
                <a:srgbClr val="000000"/>
              </a:solidFill>
              <a:latin typeface="Arial"/>
              <a:ea typeface="Arial"/>
              <a:cs typeface="Arial"/>
              <a:sym typeface="Arial"/>
            </a:endParaRPr>
          </a:p>
        </p:txBody>
      </p:sp>
      <p:sp>
        <p:nvSpPr>
          <p:cNvPr id="110" name="Google Shape;110;p36"/>
          <p:cNvSpPr txBox="1"/>
          <p:nvPr/>
        </p:nvSpPr>
        <p:spPr>
          <a:xfrm>
            <a:off x="777240" y="1207008"/>
            <a:ext cx="10515600" cy="4525200"/>
          </a:xfrm>
          <a:prstGeom prst="rect">
            <a:avLst/>
          </a:prstGeom>
          <a:noFill/>
          <a:ln>
            <a:noFill/>
          </a:ln>
        </p:spPr>
        <p:txBody>
          <a:bodyPr anchorCtr="0" anchor="t" bIns="45700" lIns="91425" spcFirstLastPara="1" rIns="91425" wrap="square" tIns="45700">
            <a:spAutoFit/>
          </a:bodyPr>
          <a:lstStyle/>
          <a:p>
            <a:pPr indent="-3238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rPr>
              <a:t>IBM Bob platform -For designing and orchestrating multi-agent workflows visually</a:t>
            </a:r>
            <a:endParaRPr b="1" sz="2400"/>
          </a:p>
          <a:p>
            <a:pPr indent="-171450" lvl="0" marL="285750" marR="0" rtl="0" algn="l">
              <a:lnSpc>
                <a:spcPct val="100000"/>
              </a:lnSpc>
              <a:spcBef>
                <a:spcPts val="0"/>
              </a:spcBef>
              <a:spcAft>
                <a:spcPts val="0"/>
              </a:spcAft>
              <a:buClr>
                <a:srgbClr val="000000"/>
              </a:buClr>
              <a:buSzPts val="1800"/>
              <a:buFont typeface="Arial"/>
              <a:buNone/>
            </a:pPr>
            <a:r>
              <a:t/>
            </a:r>
            <a:endParaRPr b="1" i="0" sz="2400" u="none" cap="none" strike="noStrike">
              <a:solidFill>
                <a:srgbClr val="000000"/>
              </a:solidFill>
            </a:endParaRPr>
          </a:p>
          <a:p>
            <a:pPr indent="-171450" lvl="0" marL="285750" marR="0" rtl="0" algn="l">
              <a:lnSpc>
                <a:spcPct val="100000"/>
              </a:lnSpc>
              <a:spcBef>
                <a:spcPts val="0"/>
              </a:spcBef>
              <a:spcAft>
                <a:spcPts val="0"/>
              </a:spcAft>
              <a:buClr>
                <a:srgbClr val="000000"/>
              </a:buClr>
              <a:buSzPts val="1800"/>
              <a:buFont typeface="Arial"/>
              <a:buNone/>
            </a:pPr>
            <a:r>
              <a:t/>
            </a:r>
            <a:endParaRPr b="1" i="0" sz="2400" u="none" cap="none" strike="noStrike">
              <a:solidFill>
                <a:srgbClr val="000000"/>
              </a:solidFill>
            </a:endParaRPr>
          </a:p>
          <a:p>
            <a:pPr indent="-3238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rPr>
              <a:t>IBM </a:t>
            </a:r>
            <a:r>
              <a:rPr b="1" lang="en-US" sz="2400"/>
              <a:t>Granite</a:t>
            </a:r>
            <a:r>
              <a:rPr b="1" i="0" lang="en-US" sz="2400" u="none" cap="none" strike="noStrike">
                <a:solidFill>
                  <a:srgbClr val="000000"/>
                </a:solidFill>
              </a:rPr>
              <a:t> model -  for eg – ibm-granite-3-2-8b – For natural language understanding, reasoning, and personalization</a:t>
            </a:r>
            <a:endParaRPr b="1" sz="2400"/>
          </a:p>
          <a:p>
            <a:pPr indent="-171450" lvl="0" marL="285750" marR="0" rtl="0" algn="l">
              <a:lnSpc>
                <a:spcPct val="100000"/>
              </a:lnSpc>
              <a:spcBef>
                <a:spcPts val="0"/>
              </a:spcBef>
              <a:spcAft>
                <a:spcPts val="0"/>
              </a:spcAft>
              <a:buClr>
                <a:srgbClr val="000000"/>
              </a:buClr>
              <a:buSzPts val="1800"/>
              <a:buFont typeface="Arial"/>
              <a:buNone/>
            </a:pPr>
            <a:r>
              <a:t/>
            </a:r>
            <a:endParaRPr b="1" i="0" sz="2400" u="none" cap="none" strike="noStrike">
              <a:solidFill>
                <a:srgbClr val="000000"/>
              </a:solidFill>
            </a:endParaRPr>
          </a:p>
          <a:p>
            <a:pPr indent="-323850" lvl="0" marL="28575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rPr>
              <a:t>IBM Cloud – It provides the infrastructure to build, deploy, and scale the Nutrition Agent efficiently. IBM Cloud enables a reliable, secure, and scalable environment for </a:t>
            </a:r>
            <a:r>
              <a:rPr b="1" lang="en-US" sz="2400"/>
              <a:t>customer data and rating predictor</a:t>
            </a:r>
            <a:endParaRPr b="1" sz="2400"/>
          </a:p>
          <a:p>
            <a:pPr indent="-171450" lvl="0" marL="285750" marR="0" rtl="0" algn="l">
              <a:lnSpc>
                <a:spcPct val="100000"/>
              </a:lnSpc>
              <a:spcBef>
                <a:spcPts val="0"/>
              </a:spcBef>
              <a:spcAft>
                <a:spcPts val="0"/>
              </a:spcAft>
              <a:buClr>
                <a:srgbClr val="000000"/>
              </a:buClr>
              <a:buSzPts val="1800"/>
              <a:buFont typeface="Arial"/>
              <a:buNone/>
            </a:pPr>
            <a:r>
              <a:t/>
            </a:r>
            <a:endParaRPr b="1" i="0" sz="2000" u="none" cap="none" strike="noStrike">
              <a:solidFill>
                <a:srgbClr val="000000"/>
              </a:solidFil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7"/>
          <p:cNvSpPr/>
          <p:nvPr/>
        </p:nvSpPr>
        <p:spPr>
          <a:xfrm>
            <a:off x="182865" y="414664"/>
            <a:ext cx="5908800" cy="44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Required Files created using IBM bob </a:t>
            </a:r>
            <a:r>
              <a:rPr b="1" i="0" lang="en-US" sz="2400" u="none" cap="none" strike="noStrike">
                <a:solidFill>
                  <a:srgbClr val="000000"/>
                </a:solidFill>
                <a:latin typeface="Arial"/>
                <a:ea typeface="Arial"/>
                <a:cs typeface="Arial"/>
                <a:sym typeface="Arial"/>
              </a:rPr>
              <a:t>-</a:t>
            </a:r>
            <a:endParaRPr b="1" i="0" sz="2400" u="none" cap="none" strike="noStrike">
              <a:solidFill>
                <a:srgbClr val="000000"/>
              </a:solidFill>
              <a:latin typeface="Arial"/>
              <a:ea typeface="Arial"/>
              <a:cs typeface="Arial"/>
              <a:sym typeface="Arial"/>
            </a:endParaRPr>
          </a:p>
        </p:txBody>
      </p:sp>
      <p:sp>
        <p:nvSpPr>
          <p:cNvPr id="116" name="Google Shape;116;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0" name="Google Shape;120;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1" name="Google Shape;121;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2" name="Google Shape;122;p37"/>
          <p:cNvSpPr txBox="1"/>
          <p:nvPr/>
        </p:nvSpPr>
        <p:spPr>
          <a:xfrm>
            <a:off x="325747" y="1805237"/>
            <a:ext cx="8823900" cy="5295000"/>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A</a:t>
            </a:r>
            <a:r>
              <a:rPr b="0" i="0" lang="en-US" sz="2000" u="none" cap="none" strike="noStrike">
                <a:solidFill>
                  <a:srgbClr val="000000"/>
                </a:solidFill>
                <a:latin typeface="Arial"/>
                <a:ea typeface="Arial"/>
                <a:cs typeface="Arial"/>
                <a:sym typeface="Arial"/>
              </a:rPr>
              <a:t>pp.py</a:t>
            </a:r>
            <a:endParaRPr sz="2000"/>
          </a:p>
          <a:p>
            <a:pPr indent="-228600" lvl="0" marL="34290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Arial"/>
              <a:ea typeface="Arial"/>
              <a:cs typeface="Arial"/>
              <a:sym typeface="Arial"/>
            </a:endParaRPr>
          </a:p>
          <a:p>
            <a:pPr indent="-3556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Requirements.txt</a:t>
            </a:r>
            <a:endParaRPr sz="2000"/>
          </a:p>
          <a:p>
            <a:pPr indent="-228600" lvl="0" marL="34290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Arial"/>
              <a:ea typeface="Arial"/>
              <a:cs typeface="Arial"/>
              <a:sym typeface="Arial"/>
            </a:endParaRPr>
          </a:p>
          <a:p>
            <a:pPr indent="-3556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Style.css </a:t>
            </a:r>
            <a:endParaRPr sz="2000"/>
          </a:p>
          <a:p>
            <a:pPr indent="-228600" lvl="0" marL="34290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Arial"/>
              <a:ea typeface="Arial"/>
              <a:cs typeface="Arial"/>
              <a:sym typeface="Arial"/>
            </a:endParaRPr>
          </a:p>
          <a:p>
            <a:pPr indent="-3556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.env</a:t>
            </a:r>
            <a:endParaRPr sz="2000"/>
          </a:p>
          <a:p>
            <a:pPr indent="-228600" lvl="0" marL="34290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Arial"/>
              <a:ea typeface="Arial"/>
              <a:cs typeface="Arial"/>
              <a:sym typeface="Arial"/>
            </a:endParaRPr>
          </a:p>
          <a:p>
            <a:pPr indent="-3556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Index.html</a:t>
            </a:r>
            <a:endParaRPr sz="2000"/>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23" name="Google Shape;123;p37"/>
          <p:cNvSpPr/>
          <p:nvPr/>
        </p:nvSpPr>
        <p:spPr>
          <a:xfrm rot="8280234">
            <a:off x="7719727" y="1520573"/>
            <a:ext cx="923544" cy="338328"/>
          </a:xfrm>
          <a:prstGeom prst="rightArrow">
            <a:avLst>
              <a:gd fmla="val 50000" name="adj1"/>
              <a:gd fmla="val 50000" name="adj2"/>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4" name="Google Shape;124;p37"/>
          <p:cNvPicPr preferRelativeResize="0"/>
          <p:nvPr/>
        </p:nvPicPr>
        <p:blipFill>
          <a:blip r:embed="rId3">
            <a:alphaModFix/>
          </a:blip>
          <a:stretch>
            <a:fillRect/>
          </a:stretch>
        </p:blipFill>
        <p:spPr>
          <a:xfrm>
            <a:off x="3517946" y="1454002"/>
            <a:ext cx="11136302" cy="5403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8"/>
          <p:cNvSpPr/>
          <p:nvPr/>
        </p:nvSpPr>
        <p:spPr>
          <a:xfrm>
            <a:off x="463590" y="372564"/>
            <a:ext cx="5908800" cy="44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800" u="none" cap="none" strike="noStrike">
                <a:solidFill>
                  <a:srgbClr val="051D3A"/>
                </a:solidFill>
              </a:rPr>
              <a:t> </a:t>
            </a:r>
            <a:r>
              <a:rPr b="1" i="0" lang="en-US" sz="2800" u="sng" cap="none" strike="noStrike">
                <a:solidFill>
                  <a:srgbClr val="051D3A"/>
                </a:solidFill>
              </a:rPr>
              <a:t>IBM Bob Screenshots:</a:t>
            </a:r>
            <a:endParaRPr b="1" i="0" sz="2800" u="sng" cap="none" strike="noStrike">
              <a:solidFill>
                <a:srgbClr val="000000"/>
              </a:solidFill>
            </a:endParaRPr>
          </a:p>
        </p:txBody>
      </p:sp>
      <p:pic>
        <p:nvPicPr>
          <p:cNvPr id="130" name="Google Shape;130;p38"/>
          <p:cNvPicPr preferRelativeResize="0"/>
          <p:nvPr/>
        </p:nvPicPr>
        <p:blipFill>
          <a:blip r:embed="rId3">
            <a:alphaModFix/>
          </a:blip>
          <a:stretch>
            <a:fillRect/>
          </a:stretch>
        </p:blipFill>
        <p:spPr>
          <a:xfrm>
            <a:off x="670450" y="1076550"/>
            <a:ext cx="11018674" cy="57814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h3f380e15e7b123e4_0_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36" name="Google Shape;136;h3f380e15e7b123e4_0_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7" name="Google Shape;137;h3f380e15e7b123e4_0_3"/>
          <p:cNvPicPr preferRelativeResize="0"/>
          <p:nvPr/>
        </p:nvPicPr>
        <p:blipFill>
          <a:blip r:embed="rId3">
            <a:alphaModFix/>
          </a:blip>
          <a:stretch>
            <a:fillRect/>
          </a:stretch>
        </p:blipFill>
        <p:spPr>
          <a:xfrm>
            <a:off x="649111" y="365125"/>
            <a:ext cx="11542891" cy="6492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39"/>
          <p:cNvPicPr preferRelativeResize="0"/>
          <p:nvPr/>
        </p:nvPicPr>
        <p:blipFill>
          <a:blip r:embed="rId3">
            <a:alphaModFix/>
          </a:blip>
          <a:stretch>
            <a:fillRect/>
          </a:stretch>
        </p:blipFill>
        <p:spPr>
          <a:xfrm>
            <a:off x="152400" y="152400"/>
            <a:ext cx="11871250" cy="655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h3f380e15e7b123e4_0_11"/>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48" name="Google Shape;148;h3f380e15e7b123e4_0_11"/>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49" name="Google Shape;149;h3f380e15e7b123e4_0_11"/>
          <p:cNvPicPr preferRelativeResize="0"/>
          <p:nvPr/>
        </p:nvPicPr>
        <p:blipFill>
          <a:blip r:embed="rId3">
            <a:alphaModFix/>
          </a:blip>
          <a:stretch>
            <a:fillRect/>
          </a:stretch>
        </p:blipFill>
        <p:spPr>
          <a:xfrm>
            <a:off x="0" y="444050"/>
            <a:ext cx="11801626" cy="6638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sng" cap="none" strike="noStrike">
                <a:solidFill>
                  <a:schemeClr val="dk1"/>
                </a:solidFill>
                <a:latin typeface="Calibri"/>
                <a:ea typeface="Calibri"/>
                <a:cs typeface="Calibri"/>
                <a:sym typeface="Calibri"/>
              </a:rPr>
              <a:t>A</a:t>
            </a:r>
            <a:r>
              <a:rPr b="1" i="0" lang="en-US" sz="2800" u="sng" cap="none" strike="noStrike">
                <a:solidFill>
                  <a:schemeClr val="dk1"/>
                </a:solidFill>
              </a:rPr>
              <a:t>rchitecture blueprint for IBM bob:</a:t>
            </a:r>
            <a:endParaRPr i="0" sz="2800" u="sng" cap="none" strike="noStrike">
              <a:solidFill>
                <a:srgbClr val="000000"/>
              </a:solidFill>
            </a:endParaRPr>
          </a:p>
        </p:txBody>
      </p:sp>
      <p:pic>
        <p:nvPicPr>
          <p:cNvPr id="155" name="Google Shape;155;p7"/>
          <p:cNvPicPr preferRelativeResize="0"/>
          <p:nvPr/>
        </p:nvPicPr>
        <p:blipFill>
          <a:blip r:embed="rId3">
            <a:alphaModFix/>
          </a:blip>
          <a:stretch>
            <a:fillRect/>
          </a:stretch>
        </p:blipFill>
        <p:spPr>
          <a:xfrm>
            <a:off x="740751" y="883625"/>
            <a:ext cx="10849249" cy="5781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61" name="Google Shape;161;p9"/>
          <p:cNvSpPr txBox="1"/>
          <p:nvPr/>
        </p:nvSpPr>
        <p:spPr>
          <a:xfrm>
            <a:off x="475488" y="283464"/>
            <a:ext cx="9317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Role of Agentic AI in the solution </a:t>
            </a:r>
            <a:endParaRPr b="1" i="0" sz="2800" u="sng" cap="none" strike="noStrike">
              <a:solidFill>
                <a:srgbClr val="000000"/>
              </a:solidFill>
              <a:latin typeface="Arial"/>
              <a:ea typeface="Arial"/>
              <a:cs typeface="Arial"/>
              <a:sym typeface="Arial"/>
            </a:endParaRPr>
          </a:p>
        </p:txBody>
      </p:sp>
      <p:sp>
        <p:nvSpPr>
          <p:cNvPr id="162" name="Google Shape;162;p9"/>
          <p:cNvSpPr txBox="1"/>
          <p:nvPr/>
        </p:nvSpPr>
        <p:spPr>
          <a:xfrm>
            <a:off x="594775" y="1167500"/>
            <a:ext cx="6901200" cy="398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a:t>A</a:t>
            </a:r>
            <a:r>
              <a:rPr b="1" lang="en-US" sz="2000"/>
              <a:t>gentic AI is an AI system that can understand a goal, make decisions, plan steps, and take actions automatically with limited human guidance.</a:t>
            </a:r>
            <a:endParaRPr b="1" sz="2000"/>
          </a:p>
          <a:p>
            <a:pPr indent="0" lvl="0" marL="0" rtl="0" algn="just">
              <a:lnSpc>
                <a:spcPct val="115000"/>
              </a:lnSpc>
              <a:spcBef>
                <a:spcPts val="1200"/>
              </a:spcBef>
              <a:spcAft>
                <a:spcPts val="0"/>
              </a:spcAft>
              <a:buNone/>
            </a:pPr>
            <a:r>
              <a:rPr b="1" lang="en-US" sz="2000"/>
              <a:t>In customer data management, Agentic AI helps companies collect, analyze, understand, and use customer information to improve customer satisfaction and business performance.</a:t>
            </a:r>
            <a:endParaRPr b="1" sz="2000"/>
          </a:p>
          <a:p>
            <a:pPr indent="0" lvl="0" marL="0" rtl="0" algn="just">
              <a:lnSpc>
                <a:spcPct val="115000"/>
              </a:lnSpc>
              <a:spcBef>
                <a:spcPts val="1200"/>
              </a:spcBef>
              <a:spcAft>
                <a:spcPts val="1200"/>
              </a:spcAft>
              <a:buNone/>
            </a:pPr>
            <a:r>
              <a:rPr b="1" lang="en-US" sz="2000"/>
              <a:t>For example, an online shopping company uses Agentic AI to identify customers who may stop buying and automatically send them personalized offers.</a:t>
            </a:r>
            <a:endParaRPr b="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1"/>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800" u="sng" cap="none" strike="noStrike">
                <a:solidFill>
                  <a:srgbClr val="000000"/>
                </a:solidFill>
                <a:latin typeface="Arial"/>
                <a:ea typeface="Arial"/>
                <a:cs typeface="Arial"/>
                <a:sym typeface="Arial"/>
              </a:rPr>
              <a:t> Project Output Screenshot</a:t>
            </a:r>
            <a:endParaRPr b="1" i="0" sz="2800" u="sng" cap="none" strike="noStrike">
              <a:solidFill>
                <a:srgbClr val="000000"/>
              </a:solidFill>
              <a:latin typeface="Arial"/>
              <a:ea typeface="Arial"/>
              <a:cs typeface="Arial"/>
              <a:sym typeface="Arial"/>
            </a:endParaRPr>
          </a:p>
        </p:txBody>
      </p:sp>
      <p:sp>
        <p:nvSpPr>
          <p:cNvPr id="168" name="Google Shape;168;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9" name="Google Shape;169;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1" name="Google Shape;171;p41"/>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72" name="Google Shape;172;p41"/>
          <p:cNvPicPr preferRelativeResize="0"/>
          <p:nvPr/>
        </p:nvPicPr>
        <p:blipFill>
          <a:blip r:embed="rId3">
            <a:alphaModFix/>
          </a:blip>
          <a:stretch>
            <a:fillRect/>
          </a:stretch>
        </p:blipFill>
        <p:spPr>
          <a:xfrm>
            <a:off x="556550" y="1337725"/>
            <a:ext cx="10705502" cy="5820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2"/>
          <p:cNvSpPr/>
          <p:nvPr/>
        </p:nvSpPr>
        <p:spPr>
          <a:xfrm>
            <a:off x="290494" y="-105665"/>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800" u="none" cap="none" strike="noStrike">
                <a:solidFill>
                  <a:srgbClr val="000000"/>
                </a:solidFill>
                <a:latin typeface="Arial"/>
                <a:ea typeface="Arial"/>
                <a:cs typeface="Arial"/>
                <a:sym typeface="Arial"/>
              </a:rPr>
              <a:t> </a:t>
            </a:r>
            <a:r>
              <a:rPr b="1" i="0" lang="en-US" sz="2800" u="sng" cap="none" strike="noStrike">
                <a:solidFill>
                  <a:srgbClr val="000000"/>
                </a:solidFill>
                <a:latin typeface="Arial"/>
                <a:ea typeface="Arial"/>
                <a:cs typeface="Arial"/>
                <a:sym typeface="Arial"/>
              </a:rPr>
              <a:t>Project Output Screenshot</a:t>
            </a:r>
            <a:endParaRPr b="1" i="0" sz="2800" u="sng" cap="none" strike="noStrike">
              <a:solidFill>
                <a:srgbClr val="000000"/>
              </a:solidFill>
              <a:latin typeface="Arial"/>
              <a:ea typeface="Arial"/>
              <a:cs typeface="Arial"/>
              <a:sym typeface="Arial"/>
            </a:endParaRPr>
          </a:p>
        </p:txBody>
      </p:sp>
      <p:sp>
        <p:nvSpPr>
          <p:cNvPr id="178" name="Google Shape;178;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0" name="Google Shape;180;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1" name="Google Shape;181;p42"/>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82" name="Google Shape;182;p42"/>
          <p:cNvPicPr preferRelativeResize="0"/>
          <p:nvPr/>
        </p:nvPicPr>
        <p:blipFill>
          <a:blip r:embed="rId3">
            <a:alphaModFix/>
          </a:blip>
          <a:stretch>
            <a:fillRect/>
          </a:stretch>
        </p:blipFill>
        <p:spPr>
          <a:xfrm>
            <a:off x="1047562" y="1196688"/>
            <a:ext cx="10666426" cy="5661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3"/>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800" u="sng" cap="none" strike="noStrike">
                <a:solidFill>
                  <a:srgbClr val="000000"/>
                </a:solidFill>
                <a:latin typeface="Arial"/>
                <a:ea typeface="Arial"/>
                <a:cs typeface="Arial"/>
                <a:sym typeface="Arial"/>
              </a:rPr>
              <a:t> Project Output Screenshot</a:t>
            </a:r>
            <a:endParaRPr b="1" i="0" sz="2800" u="sng" cap="none" strike="noStrike">
              <a:solidFill>
                <a:srgbClr val="000000"/>
              </a:solidFill>
              <a:latin typeface="Arial"/>
              <a:ea typeface="Arial"/>
              <a:cs typeface="Arial"/>
              <a:sym typeface="Arial"/>
            </a:endParaRPr>
          </a:p>
        </p:txBody>
      </p:sp>
      <p:sp>
        <p:nvSpPr>
          <p:cNvPr id="188" name="Google Shape;188;p4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9" name="Google Shape;189;p4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0" name="Google Shape;190;p4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1" name="Google Shape;191;p43"/>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92" name="Google Shape;192;p43"/>
          <p:cNvPicPr preferRelativeResize="0"/>
          <p:nvPr/>
        </p:nvPicPr>
        <p:blipFill>
          <a:blip r:embed="rId3">
            <a:alphaModFix/>
          </a:blip>
          <a:stretch>
            <a:fillRect/>
          </a:stretch>
        </p:blipFill>
        <p:spPr>
          <a:xfrm>
            <a:off x="790175" y="952275"/>
            <a:ext cx="10870751" cy="5905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hd19fef9d87aa9eb_3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98" name="Google Shape;198;hd19fef9d87aa9eb_3_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9" name="Google Shape;199;hd19fef9d87aa9eb_3_5"/>
          <p:cNvPicPr preferRelativeResize="0"/>
          <p:nvPr/>
        </p:nvPicPr>
        <p:blipFill>
          <a:blip r:embed="rId3">
            <a:alphaModFix/>
          </a:blip>
          <a:stretch>
            <a:fillRect/>
          </a:stretch>
        </p:blipFill>
        <p:spPr>
          <a:xfrm>
            <a:off x="1229150" y="365125"/>
            <a:ext cx="9035449" cy="5714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4"/>
          <p:cNvSpPr txBox="1"/>
          <p:nvPr/>
        </p:nvSpPr>
        <p:spPr>
          <a:xfrm>
            <a:off x="956140" y="216282"/>
            <a:ext cx="712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rPr>
              <a:t>Novelty and Uniqueness</a:t>
            </a:r>
            <a:endParaRPr b="1" i="0" sz="2800" u="sng" cap="none" strike="noStrike">
              <a:solidFill>
                <a:srgbClr val="000000"/>
              </a:solidFill>
            </a:endParaRPr>
          </a:p>
        </p:txBody>
      </p:sp>
      <p:sp>
        <p:nvSpPr>
          <p:cNvPr id="205" name="Google Shape;205;p44"/>
          <p:cNvSpPr txBox="1"/>
          <p:nvPr/>
        </p:nvSpPr>
        <p:spPr>
          <a:xfrm>
            <a:off x="777250" y="874900"/>
            <a:ext cx="11824500" cy="7536000"/>
          </a:xfrm>
          <a:prstGeom prst="rect">
            <a:avLst/>
          </a:prstGeom>
          <a:noFill/>
          <a:ln>
            <a:noFill/>
          </a:ln>
        </p:spPr>
        <p:txBody>
          <a:bodyPr anchorCtr="0" anchor="t" bIns="91425" lIns="91425" spcFirstLastPara="1" rIns="91425" wrap="square" tIns="91425">
            <a:spAutoFit/>
          </a:bodyPr>
          <a:lstStyle/>
          <a:p>
            <a:pPr indent="0" lvl="0" marL="0" rtl="0" algn="just">
              <a:lnSpc>
                <a:spcPct val="135000"/>
              </a:lnSpc>
              <a:spcBef>
                <a:spcPts val="0"/>
              </a:spcBef>
              <a:spcAft>
                <a:spcPts val="0"/>
              </a:spcAft>
              <a:buClr>
                <a:schemeClr val="dk1"/>
              </a:buClr>
              <a:buSzPts val="1100"/>
              <a:buFont typeface="Arial"/>
              <a:buNone/>
            </a:pPr>
            <a:r>
              <a:rPr b="1" lang="en-US" sz="2400">
                <a:solidFill>
                  <a:schemeClr val="dk1"/>
                </a:solidFill>
              </a:rPr>
              <a:t>This project stands out from conventional machine learning applications in several important ways. Unlike typical ML projects that rely on a single pre-chosen algorithm, this system automatically trains and evaluates five different classification models — Random Forest, Gradient Boosting, Extra Trees, Logistic Regression, and K-Nearest Neighbours — and intelligently selects the best performing one based on actual test accuracy. This automatic model selection mechanism ensures that the most optimal algorithm is always used without any manual intervention.</a:t>
            </a:r>
            <a:endParaRPr b="1" sz="2400">
              <a:solidFill>
                <a:schemeClr val="dk1"/>
              </a:solidFill>
            </a:endParaRPr>
          </a:p>
          <a:p>
            <a:pPr indent="0" lvl="0" marL="0" rtl="0" algn="just">
              <a:lnSpc>
                <a:spcPct val="135000"/>
              </a:lnSpc>
              <a:spcBef>
                <a:spcPts val="0"/>
              </a:spcBef>
              <a:spcAft>
                <a:spcPts val="0"/>
              </a:spcAft>
              <a:buClr>
                <a:schemeClr val="dk1"/>
              </a:buClr>
              <a:buSzPts val="1100"/>
              <a:buFont typeface="Arial"/>
              <a:buNone/>
            </a:pPr>
            <a:r>
              <a:rPr b="1" lang="en-US" sz="2400">
                <a:solidFill>
                  <a:schemeClr val="dk1"/>
                </a:solidFill>
              </a:rPr>
              <a:t>The evaluation methodology is equally robust. Each model is assessed using both 5-fold cross-validation on the training set and a separate test set accuracy score, providing a two-layer validation that prevents overfitting and ensures reliable, unbiased results. This dual evaluation approach is rarely seen in beginner to intermediate level ML projects, making this system more trustworthy and production-ready.</a:t>
            </a:r>
            <a:endParaRPr b="1" sz="2400">
              <a:solidFill>
                <a:schemeClr val="dk1"/>
              </a:solidFill>
            </a:endParaRPr>
          </a:p>
          <a:p>
            <a:pPr indent="0" lvl="0" marL="0" rtl="0" algn="l">
              <a:spcBef>
                <a:spcPts val="0"/>
              </a:spcBef>
              <a:spcAft>
                <a:spcPts val="0"/>
              </a:spcAft>
              <a:buNone/>
            </a:pPr>
            <a:r>
              <a:t/>
            </a:r>
            <a:endParaRPr b="1" sz="2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5"/>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sng" cap="none" strike="noStrike">
                <a:solidFill>
                  <a:srgbClr val="000000"/>
                </a:solidFill>
                <a:latin typeface="Arial"/>
                <a:ea typeface="Arial"/>
                <a:cs typeface="Arial"/>
                <a:sym typeface="Arial"/>
              </a:rPr>
              <a:t>Git Hub Link</a:t>
            </a:r>
            <a:endParaRPr b="1" i="0" sz="2800" u="sng" cap="none" strike="noStrike">
              <a:solidFill>
                <a:srgbClr val="000000"/>
              </a:solidFill>
              <a:latin typeface="Arial"/>
              <a:ea typeface="Arial"/>
              <a:cs typeface="Arial"/>
              <a:sym typeface="Arial"/>
            </a:endParaRPr>
          </a:p>
        </p:txBody>
      </p:sp>
      <p:sp>
        <p:nvSpPr>
          <p:cNvPr id="211" name="Google Shape;211;p45"/>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2" name="Google Shape;212;p45"/>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3" name="Google Shape;213;p45"/>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14" name="Google Shape;214;p45"/>
          <p:cNvSpPr txBox="1"/>
          <p:nvPr/>
        </p:nvSpPr>
        <p:spPr>
          <a:xfrm>
            <a:off x="936250" y="1455225"/>
            <a:ext cx="11956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p>
          <a:p>
            <a:pPr indent="0" lvl="0" marL="0" rtl="0" algn="l">
              <a:spcBef>
                <a:spcPts val="0"/>
              </a:spcBef>
              <a:spcAft>
                <a:spcPts val="0"/>
              </a:spcAft>
              <a:buNone/>
            </a:pPr>
            <a:r>
              <a:rPr lang="en-US" sz="2000" u="sng">
                <a:solidFill>
                  <a:schemeClr val="hlink"/>
                </a:solidFill>
                <a:hlinkClick r:id="rId3"/>
              </a:rPr>
              <a:t>https://github.com/prasannamatsa07-cyber/CUSTOMER-DATA-RATING-PREDICTION.git</a:t>
            </a:r>
            <a:endParaRPr sz="2000"/>
          </a:p>
          <a:p>
            <a:pPr indent="0" lvl="0" marL="0" rtl="0" algn="l">
              <a:spcBef>
                <a:spcPts val="0"/>
              </a:spcBef>
              <a:spcAft>
                <a:spcPts val="0"/>
              </a:spcAft>
              <a:buNone/>
            </a:pPr>
            <a:r>
              <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6"/>
          <p:cNvSpPr/>
          <p:nvPr/>
        </p:nvSpPr>
        <p:spPr>
          <a:xfrm>
            <a:off x="1765475" y="622452"/>
            <a:ext cx="5718900" cy="383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sng" cap="none" strike="noStrike">
                <a:solidFill>
                  <a:srgbClr val="000000"/>
                </a:solidFill>
                <a:latin typeface="Arial"/>
                <a:ea typeface="Arial"/>
                <a:cs typeface="Arial"/>
                <a:sym typeface="Arial"/>
              </a:rPr>
              <a:t>Future Scope</a:t>
            </a:r>
            <a:r>
              <a:rPr b="1" i="0" lang="en-US" sz="2800" u="none" cap="none" strike="noStrike">
                <a:solidFill>
                  <a:srgbClr val="000000"/>
                </a:solidFill>
                <a:latin typeface="Arial"/>
                <a:ea typeface="Arial"/>
                <a:cs typeface="Arial"/>
                <a:sym typeface="Arial"/>
              </a:rPr>
              <a:t> </a:t>
            </a:r>
            <a:endParaRPr b="1" i="0" sz="2800" u="none" cap="none" strike="noStrike">
              <a:solidFill>
                <a:srgbClr val="000000"/>
              </a:solidFill>
              <a:latin typeface="Arial"/>
              <a:ea typeface="Arial"/>
              <a:cs typeface="Arial"/>
              <a:sym typeface="Arial"/>
            </a:endParaRPr>
          </a:p>
        </p:txBody>
      </p:sp>
      <p:sp>
        <p:nvSpPr>
          <p:cNvPr id="220" name="Google Shape;220;p46"/>
          <p:cNvSpPr/>
          <p:nvPr/>
        </p:nvSpPr>
        <p:spPr>
          <a:xfrm>
            <a:off x="1218724" y="3360216"/>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21" name="Google Shape;221;p46"/>
          <p:cNvSpPr/>
          <p:nvPr/>
        </p:nvSpPr>
        <p:spPr>
          <a:xfrm>
            <a:off x="1218724" y="4395464"/>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22" name="Google Shape;222;p46"/>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23" name="Google Shape;223;p46"/>
          <p:cNvSpPr txBox="1"/>
          <p:nvPr/>
        </p:nvSpPr>
        <p:spPr>
          <a:xfrm>
            <a:off x="1218725" y="1005550"/>
            <a:ext cx="9945000" cy="5552100"/>
          </a:xfrm>
          <a:prstGeom prst="rect">
            <a:avLst/>
          </a:prstGeom>
          <a:noFill/>
          <a:ln>
            <a:noFill/>
          </a:ln>
        </p:spPr>
        <p:txBody>
          <a:bodyPr anchorCtr="0" anchor="t" bIns="91425" lIns="91425" spcFirstLastPara="1" rIns="91425" wrap="square" tIns="91425">
            <a:spAutoFit/>
          </a:bodyPr>
          <a:lstStyle/>
          <a:p>
            <a:pPr indent="-368300" lvl="0" marL="457200" rtl="0" algn="l">
              <a:lnSpc>
                <a:spcPct val="135000"/>
              </a:lnSpc>
              <a:spcBef>
                <a:spcPts val="1000"/>
              </a:spcBef>
              <a:spcAft>
                <a:spcPts val="0"/>
              </a:spcAft>
              <a:buClr>
                <a:schemeClr val="dk1"/>
              </a:buClr>
              <a:buSzPts val="2200"/>
              <a:buAutoNum type="arabicPeriod"/>
            </a:pPr>
            <a:r>
              <a:rPr b="1" lang="en-US" sz="2200">
                <a:solidFill>
                  <a:schemeClr val="dk1"/>
                </a:solidFill>
              </a:rPr>
              <a:t>Add AI Chatbot —</a:t>
            </a:r>
            <a:r>
              <a:rPr lang="en-US" sz="2200">
                <a:solidFill>
                  <a:schemeClr val="dk1"/>
                </a:solidFill>
              </a:rPr>
              <a:t> Let users ask questions and get answers in simple language using IBM Granite</a:t>
            </a:r>
            <a:endParaRPr sz="2200">
              <a:solidFill>
                <a:schemeClr val="dk1"/>
              </a:solidFill>
            </a:endParaRPr>
          </a:p>
          <a:p>
            <a:pPr indent="-368300" lvl="0" marL="457200" rtl="0" algn="l">
              <a:lnSpc>
                <a:spcPct val="135000"/>
              </a:lnSpc>
              <a:spcBef>
                <a:spcPts val="0"/>
              </a:spcBef>
              <a:spcAft>
                <a:spcPts val="0"/>
              </a:spcAft>
              <a:buClr>
                <a:schemeClr val="dk1"/>
              </a:buClr>
              <a:buSzPts val="2200"/>
              <a:buAutoNum type="arabicPeriod"/>
            </a:pPr>
            <a:r>
              <a:rPr b="1" lang="en-US" sz="2200" u="sng">
                <a:solidFill>
                  <a:schemeClr val="dk1"/>
                </a:solidFill>
              </a:rPr>
              <a:t>Explain Predictions </a:t>
            </a:r>
            <a:r>
              <a:rPr lang="en-US" sz="2200">
                <a:solidFill>
                  <a:schemeClr val="dk1"/>
                </a:solidFill>
              </a:rPr>
              <a:t>— Instead of just showing a rating, explain </a:t>
            </a:r>
            <a:r>
              <a:rPr i="1" lang="en-US" sz="2200">
                <a:solidFill>
                  <a:schemeClr val="dk1"/>
                </a:solidFill>
              </a:rPr>
              <a:t>why</a:t>
            </a:r>
            <a:r>
              <a:rPr lang="en-US" sz="2200">
                <a:solidFill>
                  <a:schemeClr val="dk1"/>
                </a:solidFill>
              </a:rPr>
              <a:t> that rating is predicted</a:t>
            </a:r>
            <a:endParaRPr sz="2200">
              <a:solidFill>
                <a:schemeClr val="dk1"/>
              </a:solidFill>
            </a:endParaRPr>
          </a:p>
          <a:p>
            <a:pPr indent="-368300" lvl="0" marL="457200" rtl="0" algn="l">
              <a:lnSpc>
                <a:spcPct val="135000"/>
              </a:lnSpc>
              <a:spcBef>
                <a:spcPts val="0"/>
              </a:spcBef>
              <a:spcAft>
                <a:spcPts val="0"/>
              </a:spcAft>
              <a:buClr>
                <a:schemeClr val="dk1"/>
              </a:buClr>
              <a:buSzPts val="2200"/>
              <a:buAutoNum type="arabicPeriod"/>
            </a:pPr>
            <a:r>
              <a:rPr b="1" lang="en-US" sz="2200" u="sng">
                <a:solidFill>
                  <a:schemeClr val="dk1"/>
                </a:solidFill>
              </a:rPr>
              <a:t>Use Live Data</a:t>
            </a:r>
            <a:r>
              <a:rPr lang="en-US" sz="2200">
                <a:solidFill>
                  <a:schemeClr val="dk1"/>
                </a:solidFill>
              </a:rPr>
              <a:t> — Replace the static CSV file with real-time order data from e-commerce platforms</a:t>
            </a:r>
            <a:endParaRPr sz="2200">
              <a:solidFill>
                <a:schemeClr val="dk1"/>
              </a:solidFill>
            </a:endParaRPr>
          </a:p>
          <a:p>
            <a:pPr indent="-368300" lvl="0" marL="457200" rtl="0" algn="l">
              <a:lnSpc>
                <a:spcPct val="135000"/>
              </a:lnSpc>
              <a:spcBef>
                <a:spcPts val="0"/>
              </a:spcBef>
              <a:spcAft>
                <a:spcPts val="0"/>
              </a:spcAft>
              <a:buClr>
                <a:schemeClr val="dk1"/>
              </a:buClr>
              <a:buSzPts val="2200"/>
              <a:buAutoNum type="arabicPeriod"/>
            </a:pPr>
            <a:r>
              <a:rPr b="1" lang="en-US" sz="2200" u="sng">
                <a:solidFill>
                  <a:schemeClr val="dk1"/>
                </a:solidFill>
              </a:rPr>
              <a:t>Multi-Agent System </a:t>
            </a:r>
            <a:r>
              <a:rPr lang="en-US" sz="2200">
                <a:solidFill>
                  <a:schemeClr val="dk1"/>
                </a:solidFill>
              </a:rPr>
              <a:t>— Use multiple AI agents for rating prediction, product recommendation, fraud detection, and discount suggestions</a:t>
            </a:r>
            <a:endParaRPr sz="2200">
              <a:solidFill>
                <a:schemeClr val="dk1"/>
              </a:solidFill>
            </a:endParaRPr>
          </a:p>
          <a:p>
            <a:pPr indent="-368300" lvl="0" marL="457200" rtl="0" algn="l">
              <a:lnSpc>
                <a:spcPct val="135000"/>
              </a:lnSpc>
              <a:spcBef>
                <a:spcPts val="0"/>
              </a:spcBef>
              <a:spcAft>
                <a:spcPts val="0"/>
              </a:spcAft>
              <a:buClr>
                <a:schemeClr val="dk1"/>
              </a:buClr>
              <a:buSzPts val="2200"/>
              <a:buAutoNum type="arabicPeriod"/>
            </a:pPr>
            <a:r>
              <a:rPr b="1" lang="en-US" sz="2200" u="sng">
                <a:solidFill>
                  <a:schemeClr val="dk1"/>
                </a:solidFill>
              </a:rPr>
              <a:t>Better Dashboard </a:t>
            </a:r>
            <a:r>
              <a:rPr lang="en-US" sz="2200">
                <a:solidFill>
                  <a:schemeClr val="dk1"/>
                </a:solidFill>
              </a:rPr>
              <a:t>— Show charts, trends, and insights like delivery time vs rating, city-wise ratings, etc.</a:t>
            </a:r>
            <a:endParaRPr sz="2200">
              <a:solidFill>
                <a:schemeClr val="dk1"/>
              </a:solidFill>
            </a:endParaRPr>
          </a:p>
          <a:p>
            <a:pPr indent="-368300" lvl="0" marL="457200" rtl="0" algn="l">
              <a:lnSpc>
                <a:spcPct val="135000"/>
              </a:lnSpc>
              <a:spcBef>
                <a:spcPts val="0"/>
              </a:spcBef>
              <a:spcAft>
                <a:spcPts val="0"/>
              </a:spcAft>
              <a:buClr>
                <a:schemeClr val="dk1"/>
              </a:buClr>
              <a:buSzPts val="2200"/>
              <a:buAutoNum type="arabicPeriod"/>
            </a:pPr>
            <a:r>
              <a:rPr b="1" lang="en-US" sz="2200" u="sng">
                <a:solidFill>
                  <a:schemeClr val="dk1"/>
                </a:solidFill>
              </a:rPr>
              <a:t>Deploy on IBM Cloud </a:t>
            </a:r>
            <a:r>
              <a:rPr lang="en-US" sz="2200">
                <a:solidFill>
                  <a:schemeClr val="dk1"/>
                </a:solidFill>
              </a:rPr>
              <a:t>— Make the app accessible to everyone online, not just locally</a:t>
            </a:r>
            <a:endParaRPr sz="2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7"/>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sng" cap="none" strike="noStrike">
                <a:solidFill>
                  <a:srgbClr val="000000"/>
                </a:solidFill>
                <a:latin typeface="Arial"/>
                <a:ea typeface="Arial"/>
                <a:cs typeface="Arial"/>
                <a:sym typeface="Arial"/>
              </a:rPr>
              <a:t>Certificates Earned:</a:t>
            </a:r>
            <a:endParaRPr u="sng"/>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47"/>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Arial"/>
                <a:ea typeface="Arial"/>
                <a:cs typeface="Arial"/>
                <a:sym typeface="Arial"/>
              </a:rPr>
              <a:t>Please  add your credly certificate </a:t>
            </a:r>
            <a:endParaRPr u="sng"/>
          </a:p>
        </p:txBody>
      </p:sp>
      <p:pic>
        <p:nvPicPr>
          <p:cNvPr id="230" name="Google Shape;230;p47"/>
          <p:cNvPicPr preferRelativeResize="0"/>
          <p:nvPr/>
        </p:nvPicPr>
        <p:blipFill>
          <a:blip r:embed="rId3">
            <a:alphaModFix/>
          </a:blip>
          <a:stretch>
            <a:fillRect/>
          </a:stretch>
        </p:blipFill>
        <p:spPr>
          <a:xfrm>
            <a:off x="1114475" y="1213275"/>
            <a:ext cx="9503025" cy="5339925"/>
          </a:xfrm>
          <a:prstGeom prst="rect">
            <a:avLst/>
          </a:prstGeom>
          <a:noFill/>
          <a:ln>
            <a:noFill/>
          </a:ln>
        </p:spPr>
      </p:pic>
      <p:pic>
        <p:nvPicPr>
          <p:cNvPr id="231" name="Google Shape;231;p47"/>
          <p:cNvPicPr preferRelativeResize="0"/>
          <p:nvPr/>
        </p:nvPicPr>
        <p:blipFill>
          <a:blip r:embed="rId4">
            <a:alphaModFix/>
          </a:blip>
          <a:stretch>
            <a:fillRect/>
          </a:stretch>
        </p:blipFill>
        <p:spPr>
          <a:xfrm>
            <a:off x="1331074" y="1279950"/>
            <a:ext cx="10273201" cy="5206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8"/>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sng"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48"/>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sng" cap="none" strike="noStrike">
                <a:solidFill>
                  <a:srgbClr val="000000"/>
                </a:solidFill>
                <a:latin typeface="Arial"/>
                <a:ea typeface="Arial"/>
                <a:cs typeface="Arial"/>
                <a:sym typeface="Arial"/>
              </a:rPr>
              <a:t>Add your IBM BOB Certificate</a:t>
            </a:r>
            <a:endParaRPr u="sng"/>
          </a:p>
        </p:txBody>
      </p:sp>
      <p:pic>
        <p:nvPicPr>
          <p:cNvPr id="238" name="Google Shape;238;p48"/>
          <p:cNvPicPr preferRelativeResize="0"/>
          <p:nvPr/>
        </p:nvPicPr>
        <p:blipFill>
          <a:blip r:embed="rId3">
            <a:alphaModFix/>
          </a:blip>
          <a:stretch>
            <a:fillRect/>
          </a:stretch>
        </p:blipFill>
        <p:spPr>
          <a:xfrm>
            <a:off x="496850" y="1200580"/>
            <a:ext cx="10308408" cy="535262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